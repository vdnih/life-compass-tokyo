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ライフコンパス東京は、結婚・妊娠・出産・子育てといったライフイベントとキャリアを、一つの時間軸の上で考え直せるWebアプリです。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家庭もキャリアも全力でがんばりたい女性にとって、世の中には様々な制約があります。東京都の世論調査でも、家庭も仕事も大切にしたいという希望は34%ある一方、現実に叶うのは32%でした。この制約自体は無くせませんが、何が選べるかを知らないまま選択肢を狭めてしまう状況は変えられると考え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東京都の子育て支援制度は7,812件もあり、自分で読み切れる量ではありません。育休は子が2歳になるまで延長できる、産後パパ育休は8週間以内に4週間まで取れるなど、日本・東京都の制度上の上限を、実施主体と出典付きでタイムラインに表示します。平均値や他人と比べた遅れは表示しません。見せるのは『あなたが使える権利はどこまでか』という選べる余地だけ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が公開デモです。予定を動かすと、つながりのあるイベントも一緒に動きます。対話型AIに話しかけると、確認済みの制度情報だけを根拠に答えます。一度決めて終わりではなく、状況が変わるたびに何度でも軽やかに描き直せることを大切にしています。</a:t>
            </a:r>
          </a:p>
          <a:p/>
          <a:p>
            <a:r>
              <a:t>[登壇メモ] 対話型AI（Gemini Function Calling）の実際の応答画面は、未サインイン状態では取得できなかった（送信にGoogleサインインが必要なため）。登壇時は実機でサインインして見せるか、口頭説明にとどめる。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ところ、この画面はログインせずに誰でも触れます。まずは自分のプランを一緒に見て話すきっかけとして使ってほしいと考えています。将来は、これを男性自身が体験するプログラムにも発展させ、女性が抱える制約の多さを、当事者として実感してもらう場にし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情報はオープンデータと法令から出典付きで取り込んでいます。一人ひとりが実際にどんなライフプランを描き、どこで諦めたかのデータは、都にも国にもまだありません。ここで積み重なるプランが、いずれ東京都や国が女性を支援する施策を増やすきっかけになることを願っています。決めるのはいつも本人です。ライフコンパス東京で、自分らしい人生を描き直せる選択肢を届け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5486400" cy="1097280"/>
          </a:xfrm>
          <a:prstGeom prst="rect">
            <a:avLst/>
          </a:prstGeom>
          <a:noFill/>
        </p:spPr>
        <p:txBody>
          <a:bodyPr wrap="square" anchor="t">
            <a:spAutoFit/>
          </a:bodyPr>
          <a:lstStyle/>
          <a:p>
            <a:pPr algn="l">
              <a:lnSpc>
                <a:spcPct val="125000"/>
              </a:lnSpc>
            </a:pPr>
            <a:r>
              <a:rPr sz="4400" b="1">
                <a:solidFill>
                  <a:srgbClr val="142842"/>
                </a:solidFill>
                <a:latin typeface="Hiragino Sans"/>
                <a:ea typeface="Hiragino Sans"/>
              </a:rPr>
              <a:t>ライフコンパス東京</a:t>
            </a:r>
          </a:p>
        </p:txBody>
      </p:sp>
      <p:sp>
        <p:nvSpPr>
          <p:cNvPr id="4" name="TextBox 3"/>
          <p:cNvSpPr txBox="1"/>
          <p:nvPr/>
        </p:nvSpPr>
        <p:spPr>
          <a:xfrm>
            <a:off x="640080" y="1783080"/>
            <a:ext cx="5486400" cy="731520"/>
          </a:xfrm>
          <a:prstGeom prst="rect">
            <a:avLst/>
          </a:prstGeom>
          <a:noFill/>
        </p:spPr>
        <p:txBody>
          <a:bodyPr wrap="square" anchor="t">
            <a:spAutoFit/>
          </a:bodyPr>
          <a:lstStyle/>
          <a:p>
            <a:pPr algn="l">
              <a:lnSpc>
                <a:spcPct val="125000"/>
              </a:lnSpc>
            </a:pPr>
            <a:r>
              <a:rPr sz="2200" b="1">
                <a:solidFill>
                  <a:srgbClr val="1E3A5F"/>
                </a:solidFill>
                <a:latin typeface="Hiragino Sans"/>
                <a:ea typeface="Hiragino Sans"/>
              </a:rPr>
              <a:t>制度を知って、自分の人生を自分で描く</a:t>
            </a:r>
          </a:p>
        </p:txBody>
      </p:sp>
      <p:sp>
        <p:nvSpPr>
          <p:cNvPr id="5" name="TextBox 4"/>
          <p:cNvSpPr txBox="1"/>
          <p:nvPr/>
        </p:nvSpPr>
        <p:spPr>
          <a:xfrm>
            <a:off x="640080" y="2514600"/>
            <a:ext cx="5486400" cy="457200"/>
          </a:xfrm>
          <a:prstGeom prst="rect">
            <a:avLst/>
          </a:prstGeom>
          <a:noFill/>
        </p:spPr>
        <p:txBody>
          <a:bodyPr wrap="square" anchor="t">
            <a:spAutoFit/>
          </a:bodyPr>
          <a:lstStyle/>
          <a:p>
            <a:pPr algn="l">
              <a:lnSpc>
                <a:spcPct val="125000"/>
              </a:lnSpc>
            </a:pPr>
            <a:r>
              <a:rPr sz="1200" b="0">
                <a:solidFill>
                  <a:srgbClr val="565B62"/>
                </a:solidFill>
                <a:latin typeface="Hiragino Sans"/>
                <a:ea typeface="Hiragino Sans"/>
              </a:rPr>
              <a:t>LIFECOMPASS TOKYO</a:t>
            </a:r>
          </a:p>
        </p:txBody>
      </p:sp>
      <p:pic>
        <p:nvPicPr>
          <p:cNvPr id="6" name="Picture 5" descr="timeline-overview.jpg"/>
          <p:cNvPicPr>
            <a:picLocks noChangeAspect="1"/>
          </p:cNvPicPr>
          <p:nvPr/>
        </p:nvPicPr>
        <p:blipFill>
          <a:blip r:embed="rId2"/>
          <a:stretch>
            <a:fillRect/>
          </a:stretch>
        </p:blipFill>
        <p:spPr>
          <a:xfrm>
            <a:off x="6400800" y="1280160"/>
            <a:ext cx="5303520" cy="3026664"/>
          </a:xfrm>
          <a:prstGeom prst="rect">
            <a:avLst/>
          </a:prstGeom>
          <a:ln w="12700">
            <a:solidFill>
              <a:srgbClr val="D9D0BC"/>
            </a:solidFill>
          </a:ln>
        </p:spPr>
      </p:pic>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都知事杯オープンデータ・ハッカソン2026 First Stage</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600" b="1">
                <a:solidFill>
                  <a:srgbClr val="142842"/>
                </a:solidFill>
                <a:latin typeface="Hiragino Sans"/>
                <a:ea typeface="Hiragino Sans"/>
              </a:rPr>
              <a:t>家庭もキャリアも、全力でがんばりたい</a:t>
            </a:r>
          </a:p>
        </p:txBody>
      </p:sp>
      <p:sp>
        <p:nvSpPr>
          <p:cNvPr id="3" name="TextBox 2"/>
          <p:cNvSpPr txBox="1"/>
          <p:nvPr/>
        </p:nvSpPr>
        <p:spPr>
          <a:xfrm>
            <a:off x="1645920" y="2011680"/>
            <a:ext cx="3291840" cy="1463040"/>
          </a:xfrm>
          <a:prstGeom prst="rect">
            <a:avLst/>
          </a:prstGeom>
          <a:noFill/>
        </p:spPr>
        <p:txBody>
          <a:bodyPr wrap="square" anchor="t">
            <a:spAutoFit/>
          </a:bodyPr>
          <a:lstStyle/>
          <a:p>
            <a:pPr algn="ctr">
              <a:lnSpc>
                <a:spcPct val="125000"/>
              </a:lnSpc>
            </a:pPr>
            <a:r>
              <a:rPr sz="4800" b="1">
                <a:solidFill>
                  <a:srgbClr val="1E3A5F"/>
                </a:solidFill>
                <a:latin typeface="Hiragino Sans"/>
                <a:ea typeface="Hiragino Sans"/>
              </a:rPr>
              <a:t>希望</a:t>
            </a:r>
          </a:p>
          <a:p>
            <a:pPr algn="ctr">
              <a:lnSpc>
                <a:spcPct val="125000"/>
              </a:lnSpc>
            </a:pPr>
            <a:r>
              <a:rPr sz="4800" b="1">
                <a:solidFill>
                  <a:srgbClr val="1E3A5F"/>
                </a:solidFill>
                <a:latin typeface="Hiragino Sans"/>
                <a:ea typeface="Hiragino Sans"/>
              </a:rPr>
              <a:t>34%</a:t>
            </a:r>
          </a:p>
        </p:txBody>
      </p:sp>
      <p:sp>
        <p:nvSpPr>
          <p:cNvPr id="4" name="TextBox 3"/>
          <p:cNvSpPr txBox="1"/>
          <p:nvPr/>
        </p:nvSpPr>
        <p:spPr>
          <a:xfrm>
            <a:off x="4937760" y="2514600"/>
            <a:ext cx="2286000" cy="548640"/>
          </a:xfrm>
          <a:prstGeom prst="rect">
            <a:avLst/>
          </a:prstGeom>
          <a:noFill/>
        </p:spPr>
        <p:txBody>
          <a:bodyPr wrap="square" anchor="t">
            <a:spAutoFit/>
          </a:bodyPr>
          <a:lstStyle/>
          <a:p>
            <a:pPr algn="ctr">
              <a:lnSpc>
                <a:spcPct val="125000"/>
              </a:lnSpc>
            </a:pPr>
            <a:r>
              <a:rPr sz="3600" b="0">
                <a:solidFill>
                  <a:srgbClr val="565B62"/>
                </a:solidFill>
                <a:latin typeface="Hiragino Sans"/>
                <a:ea typeface="Hiragino Sans"/>
              </a:rPr>
              <a:t>↔</a:t>
            </a:r>
          </a:p>
        </p:txBody>
      </p:sp>
      <p:sp>
        <p:nvSpPr>
          <p:cNvPr id="5" name="TextBox 4"/>
          <p:cNvSpPr txBox="1"/>
          <p:nvPr/>
        </p:nvSpPr>
        <p:spPr>
          <a:xfrm>
            <a:off x="7223760" y="2011680"/>
            <a:ext cx="3291840" cy="1463040"/>
          </a:xfrm>
          <a:prstGeom prst="rect">
            <a:avLst/>
          </a:prstGeom>
          <a:noFill/>
        </p:spPr>
        <p:txBody>
          <a:bodyPr wrap="square" anchor="t">
            <a:spAutoFit/>
          </a:bodyPr>
          <a:lstStyle/>
          <a:p>
            <a:pPr algn="ctr">
              <a:lnSpc>
                <a:spcPct val="125000"/>
              </a:lnSpc>
            </a:pPr>
            <a:r>
              <a:rPr sz="4800" b="1">
                <a:solidFill>
                  <a:srgbClr val="C2708C"/>
                </a:solidFill>
                <a:latin typeface="Hiragino Sans"/>
                <a:ea typeface="Hiragino Sans"/>
              </a:rPr>
              <a:t>現実</a:t>
            </a:r>
          </a:p>
          <a:p>
            <a:pPr algn="ctr">
              <a:lnSpc>
                <a:spcPct val="125000"/>
              </a:lnSpc>
            </a:pPr>
            <a:r>
              <a:rPr sz="4800" b="1">
                <a:solidFill>
                  <a:srgbClr val="C2708C"/>
                </a:solidFill>
                <a:latin typeface="Hiragino Sans"/>
                <a:ea typeface="Hiragino Sans"/>
              </a:rPr>
              <a:t>32%</a:t>
            </a:r>
          </a:p>
        </p:txBody>
      </p:sp>
      <p:sp>
        <p:nvSpPr>
          <p:cNvPr id="6" name="TextBox 5"/>
          <p:cNvSpPr txBox="1"/>
          <p:nvPr/>
        </p:nvSpPr>
        <p:spPr>
          <a:xfrm>
            <a:off x="640080" y="3749039"/>
            <a:ext cx="10515600" cy="1188720"/>
          </a:xfrm>
          <a:prstGeom prst="rect">
            <a:avLst/>
          </a:prstGeom>
          <a:noFill/>
        </p:spPr>
        <p:txBody>
          <a:bodyPr wrap="square" anchor="t">
            <a:spAutoFit/>
          </a:bodyPr>
          <a:lstStyle/>
          <a:p>
            <a:pPr algn="l">
              <a:lnSpc>
                <a:spcPct val="140000"/>
              </a:lnSpc>
            </a:pPr>
            <a:r>
              <a:rPr sz="2000" b="0">
                <a:solidFill>
                  <a:srgbClr val="20242B"/>
                </a:solidFill>
                <a:latin typeface="Hiragino Sans"/>
                <a:ea typeface="Hiragino Sans"/>
              </a:rPr>
              <a:t>仕事・家庭生活・個人の生活すべてを大切にしたいという希望は34%ある一方、</a:t>
            </a:r>
          </a:p>
          <a:p>
            <a:pPr algn="l">
              <a:lnSpc>
                <a:spcPct val="140000"/>
              </a:lnSpc>
            </a:pPr>
            <a:r>
              <a:rPr sz="2000" b="0">
                <a:solidFill>
                  <a:srgbClr val="20242B"/>
                </a:solidFill>
                <a:latin typeface="Hiragino Sans"/>
                <a:ea typeface="Hiragino Sans"/>
              </a:rPr>
              <a:t>現実には仕事を優先している人が32%。制約自体は無くなりません。</a:t>
            </a:r>
          </a:p>
          <a:p>
            <a:pPr algn="l">
              <a:lnSpc>
                <a:spcPct val="140000"/>
              </a:lnSpc>
            </a:pPr>
            <a:r>
              <a:rPr sz="2000" b="0">
                <a:solidFill>
                  <a:srgbClr val="20242B"/>
                </a:solidFill>
                <a:latin typeface="Hiragino Sans"/>
                <a:ea typeface="Hiragino Sans"/>
              </a:rPr>
              <a:t>知らずに選択肢を狭めてしまう状況だけは、変えられると考えました。</a:t>
            </a:r>
          </a:p>
        </p:txBody>
      </p:sp>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東京都「男女平等参画に関する世論調査」（令和2年度）／東京都「男女雇用平等参画状況調査」（令和7年度、女性が挙げる課題1位「家庭責任が重いイメージ」69.4%）</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400" b="1">
                <a:solidFill>
                  <a:srgbClr val="142842"/>
                </a:solidFill>
                <a:latin typeface="Hiragino Sans"/>
                <a:ea typeface="Hiragino Sans"/>
              </a:rPr>
              <a:t>使える制度を、出典付きで手渡す</a:t>
            </a:r>
          </a:p>
        </p:txBody>
      </p:sp>
      <p:pic>
        <p:nvPicPr>
          <p:cNvPr id="3" name="Picture 2" descr="event-detail-childbirth.jpg"/>
          <p:cNvPicPr>
            <a:picLocks noChangeAspect="1"/>
          </p:cNvPicPr>
          <p:nvPr/>
        </p:nvPicPr>
        <p:blipFill>
          <a:blip r:embed="rId2"/>
          <a:stretch>
            <a:fillRect/>
          </a:stretch>
        </p:blipFill>
        <p:spPr>
          <a:xfrm>
            <a:off x="640080" y="1371600"/>
            <a:ext cx="6766560" cy="3867912"/>
          </a:xfrm>
          <a:prstGeom prst="rect">
            <a:avLst/>
          </a:prstGeom>
          <a:ln w="12700">
            <a:solidFill>
              <a:srgbClr val="D9D0BC"/>
            </a:solidFill>
          </a:ln>
        </p:spPr>
      </p:pic>
      <p:sp>
        <p:nvSpPr>
          <p:cNvPr id="4" name="Rectangle 3"/>
          <p:cNvSpPr/>
          <p:nvPr/>
        </p:nvSpPr>
        <p:spPr>
          <a:xfrm>
            <a:off x="7772400" y="146304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79" y="162763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01  同じ時間軸</a:t>
            </a:r>
          </a:p>
        </p:txBody>
      </p:sp>
      <p:sp>
        <p:nvSpPr>
          <p:cNvPr id="6" name="Rectangle 5"/>
          <p:cNvSpPr/>
          <p:nvPr/>
        </p:nvSpPr>
        <p:spPr>
          <a:xfrm>
            <a:off x="7772400" y="251460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267919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02  出典付きの事実</a:t>
            </a:r>
          </a:p>
        </p:txBody>
      </p:sp>
      <p:sp>
        <p:nvSpPr>
          <p:cNvPr id="8" name="Rectangle 7"/>
          <p:cNvSpPr/>
          <p:nvPr/>
        </p:nvSpPr>
        <p:spPr>
          <a:xfrm>
            <a:off x="7772400" y="356616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373075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03  決めるのは自分</a:t>
            </a:r>
          </a:p>
        </p:txBody>
      </p:sp>
      <p:sp>
        <p:nvSpPr>
          <p:cNvPr id="10" name="TextBox 9"/>
          <p:cNvSpPr txBox="1"/>
          <p:nvPr/>
        </p:nvSpPr>
        <p:spPr>
          <a:xfrm>
            <a:off x="7772400" y="4846320"/>
            <a:ext cx="3657600" cy="1371600"/>
          </a:xfrm>
          <a:prstGeom prst="rect">
            <a:avLst/>
          </a:prstGeom>
          <a:noFill/>
        </p:spPr>
        <p:txBody>
          <a:bodyPr wrap="square" anchor="t">
            <a:spAutoFit/>
          </a:bodyPr>
          <a:lstStyle/>
          <a:p>
            <a:pPr algn="l">
              <a:lnSpc>
                <a:spcPct val="130000"/>
              </a:lnSpc>
            </a:pPr>
            <a:r>
              <a:rPr sz="1400" b="0">
                <a:solidFill>
                  <a:srgbClr val="565B62"/>
                </a:solidFill>
                <a:latin typeface="Hiragino Sans"/>
                <a:ea typeface="Hiragino Sans"/>
              </a:rPr>
              <a:t>「国の制度」「東京都の制度」を実施主体ごとに明示し、</a:t>
            </a:r>
          </a:p>
          <a:p>
            <a:pPr algn="l">
              <a:lnSpc>
                <a:spcPct val="130000"/>
              </a:lnSpc>
            </a:pPr>
            <a:r>
              <a:rPr sz="1400" b="0">
                <a:solidFill>
                  <a:srgbClr val="565B62"/>
                </a:solidFill>
                <a:latin typeface="Hiragino Sans"/>
                <a:ea typeface="Hiragino Sans"/>
              </a:rPr>
              <a:t>公式ページへのリンクを常に添える。</a:t>
            </a:r>
          </a:p>
        </p:txBody>
      </p:sp>
      <p:sp>
        <p:nvSpPr>
          <p:cNvPr id="11" name="TextBox 10"/>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育児・介護休業法／労働基準法／母子保健法（厚生労働省・こども家庭庁）、東京都不妊検査等助成事業（東京都福祉局）。平均値・他人との比較は表示しない。</a:t>
            </a:r>
          </a:p>
        </p:txBody>
      </p:sp>
      <p:sp>
        <p:nvSpPr>
          <p:cNvPr id="12" name="TextBox 11"/>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600" b="1">
                <a:solidFill>
                  <a:srgbClr val="142842"/>
                </a:solidFill>
                <a:latin typeface="Hiragino Sans"/>
                <a:ea typeface="Hiragino Sans"/>
              </a:rPr>
              <a:t>何度でも立て直せる</a:t>
            </a:r>
          </a:p>
        </p:txBody>
      </p:sp>
      <p:pic>
        <p:nvPicPr>
          <p:cNvPr id="3" name="Picture 2" descr="timeline-overview.jpg"/>
          <p:cNvPicPr>
            <a:picLocks noChangeAspect="1"/>
          </p:cNvPicPr>
          <p:nvPr/>
        </p:nvPicPr>
        <p:blipFill>
          <a:blip r:embed="rId2"/>
          <a:stretch>
            <a:fillRect/>
          </a:stretch>
        </p:blipFill>
        <p:spPr>
          <a:xfrm>
            <a:off x="640080" y="1371600"/>
            <a:ext cx="5212080" cy="2971800"/>
          </a:xfrm>
          <a:prstGeom prst="rect">
            <a:avLst/>
          </a:prstGeom>
          <a:ln w="12700">
            <a:solidFill>
              <a:srgbClr val="D9D0BC"/>
            </a:solidFill>
          </a:ln>
        </p:spPr>
      </p:pic>
      <p:pic>
        <p:nvPicPr>
          <p:cNvPr id="4" name="Picture 3" descr="event-detail-childbirth.jpg"/>
          <p:cNvPicPr>
            <a:picLocks noChangeAspect="1"/>
          </p:cNvPicPr>
          <p:nvPr/>
        </p:nvPicPr>
        <p:blipFill>
          <a:blip r:embed="rId3"/>
          <a:stretch>
            <a:fillRect/>
          </a:stretch>
        </p:blipFill>
        <p:spPr>
          <a:xfrm>
            <a:off x="6035040" y="1371600"/>
            <a:ext cx="5212080" cy="2971800"/>
          </a:xfrm>
          <a:prstGeom prst="rect">
            <a:avLst/>
          </a:prstGeom>
          <a:ln w="12700">
            <a:solidFill>
              <a:srgbClr val="D9D0BC"/>
            </a:solidFill>
          </a:ln>
        </p:spPr>
      </p:pic>
      <p:sp>
        <p:nvSpPr>
          <p:cNvPr id="5" name="TextBox 4"/>
          <p:cNvSpPr txBox="1"/>
          <p:nvPr/>
        </p:nvSpPr>
        <p:spPr>
          <a:xfrm>
            <a:off x="640080" y="4572000"/>
            <a:ext cx="10515600" cy="1188720"/>
          </a:xfrm>
          <a:prstGeom prst="rect">
            <a:avLst/>
          </a:prstGeom>
          <a:noFill/>
        </p:spPr>
        <p:txBody>
          <a:bodyPr wrap="square" anchor="t">
            <a:spAutoFit/>
          </a:bodyPr>
          <a:lstStyle/>
          <a:p>
            <a:pPr algn="l">
              <a:lnSpc>
                <a:spcPct val="140000"/>
              </a:lnSpc>
            </a:pPr>
            <a:r>
              <a:rPr sz="2000" b="0">
                <a:solidFill>
                  <a:srgbClr val="20242B"/>
                </a:solidFill>
                <a:latin typeface="Hiragino Sans"/>
                <a:ea typeface="Hiragino Sans"/>
              </a:rPr>
              <a:t>結婚・出産・転職などの予定を自由に置き、必要な制度情報をすぐに確認できます。</a:t>
            </a:r>
          </a:p>
          <a:p>
            <a:pPr algn="l">
              <a:lnSpc>
                <a:spcPct val="140000"/>
              </a:lnSpc>
            </a:pPr>
            <a:r>
              <a:rPr sz="2000" b="0">
                <a:solidFill>
                  <a:srgbClr val="20242B"/>
                </a:solidFill>
                <a:latin typeface="Hiragino Sans"/>
                <a:ea typeface="Hiragino Sans"/>
              </a:rPr>
              <a:t>一度決めて終わりではなく、状況が変わるたびに何度でも軽やかに描き直せます。</a:t>
            </a:r>
          </a:p>
        </p:txBody>
      </p:sp>
      <p:sp>
        <p:nvSpPr>
          <p:cNvPr id="6" name="TextBox 5"/>
          <p:cNvSpPr txBox="1"/>
          <p:nvPr/>
        </p:nvSpPr>
        <p:spPr>
          <a:xfrm>
            <a:off x="640080" y="5989320"/>
            <a:ext cx="5486400" cy="36576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公開デモ: my-career-app-559fd.web.app</a:t>
            </a:r>
          </a:p>
        </p:txBody>
      </p:sp>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希望される支援も「新しい休業」より「時間の組み替え」（有給53.7%・フレックス49.4%、東京都「男女雇用平等参画状況調査」令和7年度）</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200" b="1">
                <a:solidFill>
                  <a:srgbClr val="142842"/>
                </a:solidFill>
                <a:latin typeface="Hiragino Sans"/>
                <a:ea typeface="Hiragino Sans"/>
              </a:rPr>
              <a:t>一つの画面を、家庭で。男性が体験する</a:t>
            </a:r>
          </a:p>
        </p:txBody>
      </p:sp>
      <p:sp>
        <p:nvSpPr>
          <p:cNvPr id="3" name="TextBox 2"/>
          <p:cNvSpPr txBox="1"/>
          <p:nvPr/>
        </p:nvSpPr>
        <p:spPr>
          <a:xfrm>
            <a:off x="640080" y="1463040"/>
            <a:ext cx="10515600" cy="548640"/>
          </a:xfrm>
          <a:prstGeom prst="rect">
            <a:avLst/>
          </a:prstGeom>
          <a:noFill/>
        </p:spPr>
        <p:txBody>
          <a:bodyPr wrap="square" anchor="t">
            <a:spAutoFit/>
          </a:bodyPr>
          <a:lstStyle/>
          <a:p>
            <a:pPr algn="ctr">
              <a:lnSpc>
                <a:spcPct val="125000"/>
              </a:lnSpc>
            </a:pPr>
            <a:r>
              <a:rPr sz="2200" b="1">
                <a:solidFill>
                  <a:srgbClr val="20242B"/>
                </a:solidFill>
                <a:latin typeface="Hiragino Sans"/>
                <a:ea typeface="Hiragino Sans"/>
              </a:rPr>
              <a:t>同じ画面を、二人で見る</a:t>
            </a:r>
          </a:p>
        </p:txBody>
      </p:sp>
      <p:sp>
        <p:nvSpPr>
          <p:cNvPr id="4" name="Rectangle 3"/>
          <p:cNvSpPr/>
          <p:nvPr/>
        </p:nvSpPr>
        <p:spPr>
          <a:xfrm>
            <a:off x="1097280" y="2377440"/>
            <a:ext cx="457200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606040"/>
            <a:ext cx="4023360" cy="45720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実装済み・ログイン不要</a:t>
            </a:r>
          </a:p>
        </p:txBody>
      </p:sp>
      <p:sp>
        <p:nvSpPr>
          <p:cNvPr id="6" name="TextBox 5"/>
          <p:cNvSpPr txBox="1"/>
          <p:nvPr/>
        </p:nvSpPr>
        <p:spPr>
          <a:xfrm>
            <a:off x="1371600" y="3063240"/>
            <a:ext cx="4023360" cy="1188720"/>
          </a:xfrm>
          <a:prstGeom prst="rect">
            <a:avLst/>
          </a:prstGeom>
          <a:noFill/>
        </p:spPr>
        <p:txBody>
          <a:bodyPr wrap="square" anchor="t">
            <a:spAutoFit/>
          </a:bodyPr>
          <a:lstStyle/>
          <a:p>
            <a:pPr algn="l">
              <a:lnSpc>
                <a:spcPct val="125000"/>
              </a:lnSpc>
            </a:pPr>
            <a:r>
              <a:rPr sz="2600" b="1">
                <a:solidFill>
                  <a:srgbClr val="142842"/>
                </a:solidFill>
                <a:latin typeface="Hiragino Sans"/>
                <a:ea typeface="Hiragino Sans"/>
              </a:rPr>
              <a:t>自分のプランを描く</a:t>
            </a:r>
          </a:p>
        </p:txBody>
      </p:sp>
      <p:sp>
        <p:nvSpPr>
          <p:cNvPr id="7" name="Rectangle 6"/>
          <p:cNvSpPr/>
          <p:nvPr/>
        </p:nvSpPr>
        <p:spPr>
          <a:xfrm>
            <a:off x="6492240" y="2377440"/>
            <a:ext cx="4572000" cy="2103120"/>
          </a:xfrm>
          <a:prstGeom prst="rect">
            <a:avLst/>
          </a:prstGeom>
          <a:no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2606040"/>
            <a:ext cx="4023360" cy="457200"/>
          </a:xfrm>
          <a:prstGeom prst="rect">
            <a:avLst/>
          </a:prstGeom>
          <a:noFill/>
        </p:spPr>
        <p:txBody>
          <a:bodyPr wrap="square" anchor="t">
            <a:spAutoFit/>
          </a:bodyPr>
          <a:lstStyle/>
          <a:p>
            <a:pPr algn="l">
              <a:lnSpc>
                <a:spcPct val="125000"/>
              </a:lnSpc>
            </a:pPr>
            <a:r>
              <a:rPr sz="1400" b="1">
                <a:solidFill>
                  <a:srgbClr val="C2708C"/>
                </a:solidFill>
                <a:latin typeface="Hiragino Sans"/>
                <a:ea typeface="Hiragino Sans"/>
              </a:rPr>
              <a:t>構想中</a:t>
            </a:r>
          </a:p>
        </p:txBody>
      </p:sp>
      <p:sp>
        <p:nvSpPr>
          <p:cNvPr id="9" name="TextBox 8"/>
          <p:cNvSpPr txBox="1"/>
          <p:nvPr/>
        </p:nvSpPr>
        <p:spPr>
          <a:xfrm>
            <a:off x="6766560" y="2971800"/>
            <a:ext cx="4023360" cy="1371600"/>
          </a:xfrm>
          <a:prstGeom prst="rect">
            <a:avLst/>
          </a:prstGeom>
          <a:noFill/>
        </p:spPr>
        <p:txBody>
          <a:bodyPr wrap="square" anchor="t">
            <a:spAutoFit/>
          </a:bodyPr>
          <a:lstStyle/>
          <a:p>
            <a:pPr algn="l">
              <a:lnSpc>
                <a:spcPct val="130000"/>
              </a:lnSpc>
            </a:pPr>
            <a:r>
              <a:rPr sz="2000" b="1">
                <a:solidFill>
                  <a:srgbClr val="142842"/>
                </a:solidFill>
                <a:latin typeface="Hiragino Sans"/>
                <a:ea typeface="Hiragino Sans"/>
              </a:rPr>
              <a:t>パートナーと一緒に見る</a:t>
            </a:r>
          </a:p>
          <a:p>
            <a:pPr algn="l">
              <a:lnSpc>
                <a:spcPct val="130000"/>
              </a:lnSpc>
            </a:pPr>
            <a:r>
              <a:rPr sz="2000" b="1">
                <a:solidFill>
                  <a:srgbClr val="142842"/>
                </a:solidFill>
                <a:latin typeface="Hiragino Sans"/>
                <a:ea typeface="Hiragino Sans"/>
              </a:rPr>
              <a:t>男性が自分ごととして体験する</a:t>
            </a:r>
          </a:p>
        </p:txBody>
      </p:sp>
      <p:sp>
        <p:nvSpPr>
          <p:cNvPr id="10" name="TextBox 9"/>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東京都「男女雇用平等参画状況調査」（令和7年度）。男性の育休取得率61.2%。ただし取得期間の最多は1〜3か月未満。</a:t>
            </a:r>
          </a:p>
        </p:txBody>
      </p:sp>
      <p:sp>
        <p:nvSpPr>
          <p:cNvPr id="11" name="TextBox 10"/>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400" b="1">
                <a:solidFill>
                  <a:srgbClr val="142842"/>
                </a:solidFill>
                <a:latin typeface="Hiragino Sans"/>
                <a:ea typeface="Hiragino Sans"/>
              </a:rPr>
              <a:t>このデータが、次の施策を動かす</a:t>
            </a:r>
          </a:p>
        </p:txBody>
      </p:sp>
      <p:sp>
        <p:nvSpPr>
          <p:cNvPr id="3" name="Rectangle 2"/>
          <p:cNvSpPr/>
          <p:nvPr/>
        </p:nvSpPr>
        <p:spPr>
          <a:xfrm>
            <a:off x="82296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東京都・国の</a:t>
            </a:r>
          </a:p>
          <a:p>
            <a:pPr algn="ctr">
              <a:lnSpc>
                <a:spcPct val="120000"/>
              </a:lnSpc>
            </a:pPr>
            <a:r>
              <a:rPr sz="1800" b="1">
                <a:solidFill>
                  <a:srgbClr val="142842"/>
                </a:solidFill>
                <a:latin typeface="Hiragino Sans"/>
                <a:ea typeface="Hiragino Sans"/>
              </a:rPr>
              <a:t>オープンデータ</a:t>
            </a:r>
          </a:p>
        </p:txBody>
      </p:sp>
      <p:sp>
        <p:nvSpPr>
          <p:cNvPr id="5" name="TextBox 4"/>
          <p:cNvSpPr txBox="1"/>
          <p:nvPr/>
        </p:nvSpPr>
        <p:spPr>
          <a:xfrm>
            <a:off x="3931920" y="2148840"/>
            <a:ext cx="457200" cy="548640"/>
          </a:xfrm>
          <a:prstGeom prst="rect">
            <a:avLst/>
          </a:prstGeom>
          <a:noFill/>
        </p:spPr>
        <p:txBody>
          <a:bodyPr wrap="square" anchor="t">
            <a:spAutoFit/>
          </a:bodyPr>
          <a:lstStyle/>
          <a:p>
            <a:pPr algn="ctr">
              <a:lnSpc>
                <a:spcPct val="125000"/>
              </a:lnSpc>
            </a:pPr>
            <a:r>
              <a:rPr sz="2400" b="0">
                <a:solidFill>
                  <a:srgbClr val="565B62"/>
                </a:solidFill>
                <a:latin typeface="Hiragino Sans"/>
                <a:ea typeface="Hiragino Sans"/>
              </a:rPr>
              <a:t>→</a:t>
            </a:r>
          </a:p>
        </p:txBody>
      </p:sp>
      <p:sp>
        <p:nvSpPr>
          <p:cNvPr id="6" name="Rectangle 5"/>
          <p:cNvSpPr/>
          <p:nvPr/>
        </p:nvSpPr>
        <p:spPr>
          <a:xfrm>
            <a:off x="438912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一人ひとりの</a:t>
            </a:r>
          </a:p>
          <a:p>
            <a:pPr algn="ctr">
              <a:lnSpc>
                <a:spcPct val="120000"/>
              </a:lnSpc>
            </a:pPr>
            <a:r>
              <a:rPr sz="1800" b="1">
                <a:solidFill>
                  <a:srgbClr val="142842"/>
                </a:solidFill>
                <a:latin typeface="Hiragino Sans"/>
                <a:ea typeface="Hiragino Sans"/>
              </a:rPr>
              <a:t>ライフプラン</a:t>
            </a:r>
          </a:p>
        </p:txBody>
      </p:sp>
      <p:sp>
        <p:nvSpPr>
          <p:cNvPr id="8" name="TextBox 7"/>
          <p:cNvSpPr txBox="1"/>
          <p:nvPr/>
        </p:nvSpPr>
        <p:spPr>
          <a:xfrm>
            <a:off x="7498080" y="2148840"/>
            <a:ext cx="457200" cy="548640"/>
          </a:xfrm>
          <a:prstGeom prst="rect">
            <a:avLst/>
          </a:prstGeom>
          <a:noFill/>
        </p:spPr>
        <p:txBody>
          <a:bodyPr wrap="square" anchor="t">
            <a:spAutoFit/>
          </a:bodyPr>
          <a:lstStyle/>
          <a:p>
            <a:pPr algn="ctr">
              <a:lnSpc>
                <a:spcPct val="125000"/>
              </a:lnSpc>
            </a:pPr>
            <a:r>
              <a:rPr sz="2400" b="0">
                <a:solidFill>
                  <a:srgbClr val="565B62"/>
                </a:solidFill>
                <a:latin typeface="Hiragino Sans"/>
                <a:ea typeface="Hiragino Sans"/>
              </a:rPr>
              <a:t>→</a:t>
            </a:r>
          </a:p>
        </p:txBody>
      </p:sp>
      <p:sp>
        <p:nvSpPr>
          <p:cNvPr id="9" name="Rectangle 8"/>
          <p:cNvSpPr/>
          <p:nvPr/>
        </p:nvSpPr>
        <p:spPr>
          <a:xfrm>
            <a:off x="795528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次の施策へ</a:t>
            </a:r>
          </a:p>
        </p:txBody>
      </p:sp>
      <p:sp>
        <p:nvSpPr>
          <p:cNvPr id="11" name="TextBox 10"/>
          <p:cNvSpPr txBox="1"/>
          <p:nvPr/>
        </p:nvSpPr>
        <p:spPr>
          <a:xfrm>
            <a:off x="640080" y="3840480"/>
            <a:ext cx="10515600" cy="914400"/>
          </a:xfrm>
          <a:prstGeom prst="rect">
            <a:avLst/>
          </a:prstGeom>
          <a:noFill/>
        </p:spPr>
        <p:txBody>
          <a:bodyPr wrap="square" anchor="t">
            <a:spAutoFit/>
          </a:bodyPr>
          <a:lstStyle/>
          <a:p>
            <a:pPr algn="ctr">
              <a:lnSpc>
                <a:spcPct val="125000"/>
              </a:lnSpc>
            </a:pPr>
            <a:r>
              <a:rPr sz="3200" b="1">
                <a:solidFill>
                  <a:srgbClr val="1E3A5F"/>
                </a:solidFill>
                <a:latin typeface="Hiragino Sans"/>
                <a:ea typeface="Hiragino Sans"/>
              </a:rPr>
              <a:t>知ったうえで、自分で決める</a:t>
            </a:r>
          </a:p>
        </p:txBody>
      </p:sp>
      <p:sp>
        <p:nvSpPr>
          <p:cNvPr id="12" name="TextBox 11"/>
          <p:cNvSpPr txBox="1"/>
          <p:nvPr/>
        </p:nvSpPr>
        <p:spPr>
          <a:xfrm>
            <a:off x="640080" y="4937760"/>
            <a:ext cx="10515600" cy="457200"/>
          </a:xfrm>
          <a:prstGeom prst="rect">
            <a:avLst/>
          </a:prstGeom>
          <a:noFill/>
        </p:spPr>
        <p:txBody>
          <a:bodyPr wrap="square" anchor="t">
            <a:spAutoFit/>
          </a:bodyPr>
          <a:lstStyle/>
          <a:p>
            <a:pPr algn="ctr">
              <a:lnSpc>
                <a:spcPct val="125000"/>
              </a:lnSpc>
            </a:pPr>
            <a:r>
              <a:rPr sz="1600" b="1">
                <a:solidFill>
                  <a:srgbClr val="142842"/>
                </a:solidFill>
                <a:latin typeface="Hiragino Sans"/>
                <a:ea typeface="Hiragino Sans"/>
              </a:rPr>
              <a:t>公開デモ: my-career-app-559fd.web.app</a:t>
            </a:r>
          </a:p>
        </p:txBody>
      </p:sp>
      <p:sp>
        <p:nvSpPr>
          <p:cNvPr id="13" name="TextBox 12"/>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制度情報の出典は各スライド記載のとおり。データはオープンデータと法令から出典付きで取り込む。</a:t>
            </a:r>
          </a:p>
        </p:txBody>
      </p:sp>
      <p:sp>
        <p:nvSpPr>
          <p:cNvPr id="14" name="TextBox 13"/>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