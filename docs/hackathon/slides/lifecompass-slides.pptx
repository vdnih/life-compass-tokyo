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[話者: あかり / 0:00-0:13]</a:t>
            </a:r>
          </a:p>
          <a:p>
            <a:r>
              <a:t>浦安ライフのあかりです。エンジニアの夫、りょうと作りました。女性がもっとイキイキできる社会に。その思いで作った、ライフコンパス東京です。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[話者: あかり / 0:13-0:39]</a:t>
            </a:r>
          </a:p>
          <a:p>
            <a:r>
              <a:t>家庭もキャリアも、全力でがんばりたい。そういう女性が、身近にいます。でも、育児は女性が向いていると考える人が68パーセント、男性は7パーセント。企業は「女性が望んでいない」と見る。でも本人の悩みは「家庭責任が重いイメージ」。望んでいないのではなく、諦めているのではないでしょうか。</a:t>
            </a:r>
          </a:p>
          <a:p/>
          <a:p>
            <a:r>
              <a:t>※サブ見出しは読み上げない（スライドの読み上げにならないようにする）。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[話者: あかり / 0:39-0:56]</a:t>
            </a:r>
          </a:p>
          <a:p>
            <a:r>
              <a:t>そして、使える制度を知りません。産前産後休暇を知らない人は6パーセント。でも出産障害休暇は、47パーセントが「職場にあるか分からない」。知らない制度は、選択肢に入りません。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[話者: りょう / 0:56-1:14 ※ここから交代]</a:t>
            </a:r>
          </a:p>
          <a:p>
            <a:r>
              <a:t>ここからは実装です。都の子育て支援制度は7,812件。読み切れる量ではありません。そこで、育休は子が2歳まで、といった国と都の制度上の上限だけを、実施主体と出典リンク付きで表示しました。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[話者: りょう / 1:14-1:31]</a:t>
            </a:r>
          </a:p>
          <a:p>
            <a:r>
              <a:t>結婚、出産、転職の予定を、同じ時間軸に自由に置けます。ひとつ動かすと、つながるイベントも一緒に動く。AIも、確認済みの制度情報だけを根拠に答えます。何度でも描き直せます。</a:t>
            </a:r>
          </a:p>
          <a:p/>
          <a:p>
            <a:r>
              <a:t>[登壇メモ] 収録ではライブデモ（アプリ画面のリアルタイム操作）は一切できない（事務局「提出資料について」）。動く様子を見せる場合は、事前に収録した無音動画をこのスライドに埋め込み、画面共有オプションの2項目にチェックを入れて共有する。対話型AI（Gemini Function Calling）の応答画面は未サインインでは取得できないため（送信にGoogleサインインが必要）、サインイン状態で録画したものを使う。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[話者: りょう / 1:31-1:46]</a:t>
            </a:r>
          </a:p>
          <a:p>
            <a:r>
              <a:t>この画面はログイン不要で、家庭で一緒に見られます。制度を「分からない」と答えた割合は、8項目すべてで男性の方が高い。男性が体験する場にも広げたいと考えています。</a:t>
            </a:r>
          </a:p>
          <a:p/>
          <a:p>
            <a:r>
              <a:t>[質疑用] 男性の育休取得率は61.2%まで上がったが、取得期間は「1か月〜3か月未満」38.6%が最多で、女性の「6か月〜1年未満」30.2%とは差がある。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[話者: あかり / 1:46-2:00 ※ここで交代して締める]</a:t>
            </a:r>
          </a:p>
          <a:p>
            <a:r>
              <a:t>誰がどこで諦めたかのデータは、都にも国にもありません。ここで積み重なるプランが、次の施策につながることを願っています。決めるのは、いつも本人です。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付録：本編2分では話さない。質疑で聞かれたときのための補足]アプリ画面に表示する制度上限は、東京都福祉局の不妊検査等助成事業と、育児・介護休業法など国の法令から出典付きで取り込んでいます。課題の根拠として資料・プレゼンで引用した東京都の調査データは、利用者の画面には表示していませ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3.jpg"/><Relationship Id="rId4" Type="http://schemas.openxmlformats.org/officeDocument/2006/relationships/image" Target="../media/image2.jp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400" b="1">
                <a:solidFill>
                  <a:srgbClr val="142842"/>
                </a:solidFill>
                <a:latin typeface="Hiragino Sans"/>
                <a:ea typeface="Hiragino Sans"/>
              </a:rPr>
              <a:t>ライフコンパス東京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1E3A5F"/>
                </a:solidFill>
                <a:latin typeface="Hiragino Sans"/>
                <a:ea typeface="Hiragino Sans"/>
              </a:rPr>
              <a:t>自分の人生を、自分で描き直す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51460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LIFECOMPASS TOKYO</a:t>
            </a:r>
          </a:p>
        </p:txBody>
      </p:sp>
      <p:pic>
        <p:nvPicPr>
          <p:cNvPr id="6" name="Picture 5" descr="timeline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280160"/>
            <a:ext cx="5303520" cy="3026664"/>
          </a:xfrm>
          <a:prstGeom prst="rect">
            <a:avLst/>
          </a:prstGeom>
          <a:ln w="12700">
            <a:solidFill>
              <a:srgbClr val="D9D0BC"/>
            </a:solidFill>
          </a:ln>
        </p:spPr>
      </p:pic>
      <p:sp>
        <p:nvSpPr>
          <p:cNvPr id="7" name="Rectangle 6"/>
          <p:cNvSpPr/>
          <p:nvPr/>
        </p:nvSpPr>
        <p:spPr>
          <a:xfrm>
            <a:off x="640080" y="3246120"/>
            <a:ext cx="5394960" cy="150876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3832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5F"/>
                </a:solidFill>
                <a:latin typeface="Hiragino Sans"/>
                <a:ea typeface="Hiragino Sans"/>
              </a:rPr>
              <a:t>チーム 浦安ライフ（2名）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749039"/>
            <a:ext cx="49377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20242B"/>
                </a:solidFill>
                <a:latin typeface="Hiragino Sans"/>
                <a:ea typeface="Hiragino Sans"/>
              </a:rPr>
              <a:t>あかり（プロダクトオーナー・マーケター）／りょう（エンジニア）</a:t>
            </a:r>
          </a:p>
          <a:p>
            <a:pPr algn="l">
              <a:lnSpc>
                <a:spcPct val="135000"/>
              </a:lnSpc>
            </a:pPr>
            <a:r>
              <a:rPr sz="1200" b="0">
                <a:solidFill>
                  <a:srgbClr val="20242B"/>
                </a:solidFill>
                <a:latin typeface="Hiragino Sans"/>
                <a:ea typeface="Hiragino Sans"/>
              </a:rPr>
              <a:t>浦安在住・東京で働く夫婦。「女性がもっとイキイキできる社会に」という思いから作りました。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都知事杯オープンデータ・ハッカソン2026 First Stage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42842"/>
                </a:solidFill>
                <a:latin typeface="Hiragino Sans"/>
                <a:ea typeface="Hiragino Sans"/>
              </a:rPr>
              <a:t>家庭もキャリアも、全力でがんばりたい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C2708C"/>
                </a:solidFill>
                <a:latin typeface="Hiragino Sans"/>
                <a:ea typeface="Hiragino Sans"/>
              </a:rPr>
              <a:t>——でも、周りは「女性は家庭の方が向いている」と言う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40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>
                <a:solidFill>
                  <a:srgbClr val="565B62"/>
                </a:solidFill>
                <a:latin typeface="Hiragino Sans"/>
                <a:ea typeface="Hiragino Sans"/>
              </a:rPr>
              <a:t>「育児は◯◯の方が向いている」と思う人の割合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C2708C"/>
                </a:solidFill>
                <a:latin typeface="Hiragino Sans"/>
                <a:ea typeface="Hiragino Sans"/>
              </a:rPr>
              <a:t>育児は女性の方が向いている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06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800" b="1">
                <a:solidFill>
                  <a:srgbClr val="C2708C"/>
                </a:solidFill>
                <a:latin typeface="Hiragino Sans"/>
                <a:ea typeface="Hiragino Sans"/>
              </a:rPr>
              <a:t>68%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06440" y="2880360"/>
            <a:ext cx="640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565B62"/>
                </a:solidFill>
                <a:latin typeface="Hiragino Sans"/>
                <a:ea typeface="Hiragino Sans"/>
              </a:rPr>
              <a:t>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103120"/>
            <a:ext cx="4937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1E3A5F"/>
                </a:solidFill>
                <a:latin typeface="Hiragino Sans"/>
                <a:ea typeface="Hiragino Sans"/>
              </a:rPr>
              <a:t>育児は男性の方が向いている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606040"/>
            <a:ext cx="49377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5800" b="1">
                <a:solidFill>
                  <a:srgbClr val="1E3A5F"/>
                </a:solidFill>
                <a:latin typeface="Hiragino Sans"/>
                <a:ea typeface="Hiragino Sans"/>
              </a:rPr>
              <a:t>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9776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142842"/>
                </a:solidFill>
                <a:latin typeface="Hiragino Sans"/>
                <a:ea typeface="Hiragino Sans"/>
              </a:rPr>
              <a:t>望んでいないのではなく、諦めざるを得ないのではないか。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6177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20242B"/>
                </a:solidFill>
                <a:latin typeface="Hiragino Sans"/>
                <a:ea typeface="Hiragino Sans"/>
              </a:rPr>
              <a:t>企業が挙げる課題1位は「管理職を希望する女性が少ない」46.4%。</a:t>
            </a:r>
          </a:p>
          <a:p>
            <a:pPr algn="ctr">
              <a:lnSpc>
                <a:spcPct val="140000"/>
              </a:lnSpc>
            </a:pPr>
            <a:r>
              <a:rPr sz="1700" b="0">
                <a:solidFill>
                  <a:srgbClr val="20242B"/>
                </a:solidFill>
                <a:latin typeface="Hiragino Sans"/>
                <a:ea typeface="Hiragino Sans"/>
              </a:rPr>
              <a:t>でも本人が挙げる1位は「家庭責任が重いイメージ」69.4%。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出典: 東京都「男女平等参画に関する世論調査」（令和7年8月調査, n=1,615。「性別で向いている仕事・向いていない仕事がある」は83%）／東京都「男女雇用平等参画状況調査」（令和7年度、事業所 n=347・従業員女性 n=556）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42842"/>
                </a:solidFill>
                <a:latin typeface="Hiragino Sans"/>
                <a:ea typeface="Hiragino Sans"/>
              </a:rPr>
              <a:t>がんばりたくても、使える制度を知らない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9728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565B62"/>
                </a:solidFill>
                <a:latin typeface="Hiragino Sans"/>
                <a:ea typeface="Hiragino Sans"/>
              </a:rPr>
              <a:t>自分の職場に制度があるか「わからない」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6479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0242B"/>
                </a:solidFill>
                <a:latin typeface="Hiragino Sans"/>
                <a:ea typeface="Hiragino Sans"/>
              </a:rPr>
              <a:t>産前産後休暇</a:t>
            </a:r>
          </a:p>
        </p:txBody>
      </p:sp>
      <p:sp>
        <p:nvSpPr>
          <p:cNvPr id="5" name="Rectangle 4"/>
          <p:cNvSpPr/>
          <p:nvPr/>
        </p:nvSpPr>
        <p:spPr>
          <a:xfrm>
            <a:off x="2834640" y="1691640"/>
            <a:ext cx="680313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2113" y="171907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E3A5F"/>
                </a:solidFill>
                <a:latin typeface="Hiragino Sans"/>
                <a:ea typeface="Hiragino Sans"/>
              </a:rPr>
              <a:t>6.0%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4203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0242B"/>
                </a:solidFill>
                <a:latin typeface="Hiragino Sans"/>
                <a:ea typeface="Hiragino Sans"/>
              </a:rPr>
              <a:t>通院休暇制度</a:t>
            </a:r>
          </a:p>
        </p:txBody>
      </p:sp>
      <p:sp>
        <p:nvSpPr>
          <p:cNvPr id="8" name="Rectangle 7"/>
          <p:cNvSpPr/>
          <p:nvPr/>
        </p:nvSpPr>
        <p:spPr>
          <a:xfrm>
            <a:off x="2834640" y="2468880"/>
            <a:ext cx="3843771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15571" y="249631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E3A5F"/>
                </a:solidFill>
                <a:latin typeface="Hiragino Sans"/>
                <a:ea typeface="Hiragino Sans"/>
              </a:rPr>
              <a:t>33.9%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1927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>
                <a:solidFill>
                  <a:srgbClr val="20242B"/>
                </a:solidFill>
                <a:latin typeface="Hiragino Sans"/>
                <a:ea typeface="Hiragino Sans"/>
              </a:rPr>
              <a:t>妊娠障害休暇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34640" y="3246120"/>
            <a:ext cx="4852903" cy="457200"/>
          </a:xfrm>
          <a:prstGeom prst="rect">
            <a:avLst/>
          </a:prstGeom>
          <a:solidFill>
            <a:srgbClr val="1E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24703" y="327355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E3A5F"/>
                </a:solidFill>
                <a:latin typeface="Hiragino Sans"/>
                <a:ea typeface="Hiragino Sans"/>
              </a:rPr>
              <a:t>42.8%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096512"/>
            <a:ext cx="2011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20242B"/>
                </a:solidFill>
                <a:latin typeface="Hiragino Sans"/>
                <a:ea typeface="Hiragino Sans"/>
              </a:rPr>
              <a:t>出産障害休暇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34640" y="4023360"/>
            <a:ext cx="5363138" cy="457200"/>
          </a:xfrm>
          <a:prstGeom prst="rect">
            <a:avLst/>
          </a:prstGeom>
          <a:solidFill>
            <a:srgbClr val="C270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4938" y="4050792"/>
            <a:ext cx="1371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C2708C"/>
                </a:solidFill>
                <a:latin typeface="Hiragino Sans"/>
                <a:ea typeface="Hiragino Sans"/>
              </a:rPr>
              <a:t>47.3%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0749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1">
                <a:solidFill>
                  <a:srgbClr val="142842"/>
                </a:solidFill>
                <a:latin typeface="Hiragino Sans"/>
                <a:ea typeface="Hiragino Sans"/>
              </a:rPr>
              <a:t>知らない制度は、選択肢に入らない。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出典: 東京都「男女雇用平等参画状況調査」（令和7年度）従業員調査（n=1,076）。母性保護に関する制度ごとの「わからない」の割合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42842"/>
                </a:solidFill>
                <a:latin typeface="Hiragino Sans"/>
                <a:ea typeface="Hiragino Sans"/>
              </a:rPr>
              <a:t>何が選べるかを知って、自分で決める</a:t>
            </a:r>
          </a:p>
        </p:txBody>
      </p:sp>
      <p:pic>
        <p:nvPicPr>
          <p:cNvPr id="3" name="Picture 2" descr="event-detail-childbirth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6766560" cy="3867912"/>
          </a:xfrm>
          <a:prstGeom prst="rect">
            <a:avLst/>
          </a:prstGeom>
          <a:ln w="12700">
            <a:solidFill>
              <a:srgbClr val="D9D0BC"/>
            </a:solidFill>
          </a:ln>
        </p:spPr>
      </p:pic>
      <p:sp>
        <p:nvSpPr>
          <p:cNvPr id="4" name="Rectangle 3"/>
          <p:cNvSpPr/>
          <p:nvPr/>
        </p:nvSpPr>
        <p:spPr>
          <a:xfrm>
            <a:off x="7772400" y="1463040"/>
            <a:ext cx="365760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79" y="162763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E3A5F"/>
                </a:solidFill>
                <a:latin typeface="Hiragino Sans"/>
                <a:ea typeface="Hiragino Sans"/>
              </a:rPr>
              <a:t>01  決めるのは自分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0" y="2514600"/>
            <a:ext cx="365760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79" y="267919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E3A5F"/>
                </a:solidFill>
                <a:latin typeface="Hiragino Sans"/>
                <a:ea typeface="Hiragino Sans"/>
              </a:rPr>
              <a:t>02  同じ時間軸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0" y="3566160"/>
            <a:ext cx="3657600" cy="77724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3730752"/>
            <a:ext cx="3291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1E3A5F"/>
                </a:solidFill>
                <a:latin typeface="Hiragino Sans"/>
                <a:ea typeface="Hiragino Sans"/>
              </a:rPr>
              <a:t>03  出典付きの事実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4846320"/>
            <a:ext cx="3657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>
                <a:solidFill>
                  <a:srgbClr val="565B62"/>
                </a:solidFill>
                <a:latin typeface="Hiragino Sans"/>
                <a:ea typeface="Hiragino Sans"/>
              </a:rPr>
              <a:t>「国の制度」「東京都の制度」を実施主体ごとに明示し、</a:t>
            </a:r>
          </a:p>
          <a:p>
            <a:pPr algn="l">
              <a:lnSpc>
                <a:spcPct val="130000"/>
              </a:lnSpc>
            </a:pPr>
            <a:r>
              <a:rPr sz="1400" b="0">
                <a:solidFill>
                  <a:srgbClr val="565B62"/>
                </a:solidFill>
                <a:latin typeface="Hiragino Sans"/>
                <a:ea typeface="Hiragino Sans"/>
              </a:rPr>
              <a:t>公式ページへのリンクを常に添える。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出典: 育児・介護休業法／労働基準法／母子保健法（厚生労働省・こども家庭庁）、東京都不妊検査等助成事業（東京都福祉局）。平均値・他人との比較は表示しない。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42842"/>
                </a:solidFill>
                <a:latin typeface="Hiragino Sans"/>
                <a:ea typeface="Hiragino Sans"/>
              </a:rPr>
              <a:t>何度でも立て直せる</a:t>
            </a:r>
          </a:p>
        </p:txBody>
      </p:sp>
      <p:pic>
        <p:nvPicPr>
          <p:cNvPr id="3" name="Picture 2" descr="timeline-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4023360" cy="2971800"/>
          </a:xfrm>
          <a:prstGeom prst="rect">
            <a:avLst/>
          </a:prstGeom>
          <a:ln w="12700">
            <a:solidFill>
              <a:srgbClr val="D9D0BC"/>
            </a:solidFill>
          </a:ln>
        </p:spPr>
      </p:pic>
      <p:pic>
        <p:nvPicPr>
          <p:cNvPr id="4" name="Picture 3" descr="timeline-mobil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71600"/>
            <a:ext cx="1371600" cy="2971800"/>
          </a:xfrm>
          <a:prstGeom prst="rect">
            <a:avLst/>
          </a:prstGeom>
          <a:ln w="12700">
            <a:solidFill>
              <a:srgbClr val="D9D0BC"/>
            </a:solidFill>
          </a:ln>
        </p:spPr>
      </p:pic>
      <p:pic>
        <p:nvPicPr>
          <p:cNvPr id="5" name="Picture 4" descr="event-detail-childbirth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371600"/>
            <a:ext cx="4846320" cy="2971800"/>
          </a:xfrm>
          <a:prstGeom prst="rect">
            <a:avLst/>
          </a:prstGeom>
          <a:ln w="12700">
            <a:solidFill>
              <a:srgbClr val="D9D0BC"/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40080" y="457200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>
                <a:solidFill>
                  <a:srgbClr val="20242B"/>
                </a:solidFill>
                <a:latin typeface="Hiragino Sans"/>
                <a:ea typeface="Hiragino Sans"/>
              </a:rPr>
              <a:t>結婚・出産・転職などの予定を自由に置き、必要な制度情報をすぐに確認できます。</a:t>
            </a:r>
          </a:p>
          <a:p>
            <a:pPr algn="l">
              <a:lnSpc>
                <a:spcPct val="140000"/>
              </a:lnSpc>
            </a:pPr>
            <a:r>
              <a:rPr sz="2000" b="0">
                <a:solidFill>
                  <a:srgbClr val="20242B"/>
                </a:solidFill>
                <a:latin typeface="Hiragino Sans"/>
                <a:ea typeface="Hiragino Sans"/>
              </a:rPr>
              <a:t>一度決めて終わりではなく、状況が変わるたびに何度でも軽やかに描き直せます。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5F"/>
                </a:solidFill>
                <a:latin typeface="Hiragino Sans"/>
                <a:ea typeface="Hiragino Sans"/>
              </a:rPr>
              <a:t>公開デモ: my-career-app-559fd.web.app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希望される支援も「新しい休業」より「時間の組み替え」（有給53.7%・フレックス49.4%、東京都「男女雇用平等参画状況調査」令和7年度）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200" b="1">
                <a:solidFill>
                  <a:srgbClr val="142842"/>
                </a:solidFill>
                <a:latin typeface="Hiragino Sans"/>
                <a:ea typeface="Hiragino Sans"/>
              </a:rPr>
              <a:t>一つの画面を、家庭で。男性が体験する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1">
                <a:solidFill>
                  <a:srgbClr val="20242B"/>
                </a:solidFill>
                <a:latin typeface="Hiragino Sans"/>
                <a:ea typeface="Hiragino Sans"/>
              </a:rPr>
              <a:t>同じ画面を、二人で見る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2377440"/>
            <a:ext cx="4572000" cy="210312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260604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5F"/>
                </a:solidFill>
                <a:latin typeface="Hiragino Sans"/>
                <a:ea typeface="Hiragino Sans"/>
              </a:rPr>
              <a:t>実装済み・ログイン不要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063240"/>
            <a:ext cx="40233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42842"/>
                </a:solidFill>
                <a:latin typeface="Hiragino Sans"/>
                <a:ea typeface="Hiragino Sans"/>
              </a:rPr>
              <a:t>自分のプランを描く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2377440"/>
            <a:ext cx="4572000" cy="2103120"/>
          </a:xfrm>
          <a:prstGeom prst="rect">
            <a:avLst/>
          </a:prstGeom>
          <a:noFill/>
          <a:ln w="9525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2606040"/>
            <a:ext cx="4023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C2708C"/>
                </a:solidFill>
                <a:latin typeface="Hiragino Sans"/>
                <a:ea typeface="Hiragino Sans"/>
              </a:rPr>
              <a:t>構想中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971800"/>
            <a:ext cx="402336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000" b="1">
                <a:solidFill>
                  <a:srgbClr val="142842"/>
                </a:solidFill>
                <a:latin typeface="Hiragino Sans"/>
                <a:ea typeface="Hiragino Sans"/>
              </a:rPr>
              <a:t>パートナーと一緒に見る</a:t>
            </a:r>
          </a:p>
          <a:p>
            <a:pPr algn="l">
              <a:lnSpc>
                <a:spcPct val="130000"/>
              </a:lnSpc>
            </a:pPr>
            <a:r>
              <a:rPr sz="2000" b="1">
                <a:solidFill>
                  <a:srgbClr val="142842"/>
                </a:solidFill>
                <a:latin typeface="Hiragino Sans"/>
                <a:ea typeface="Hiragino Sans"/>
              </a:rPr>
              <a:t>男性が自分ごととして体験する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出典: 東京都「男女雇用平等参画状況調査」（令和7年度）。母性保護に関する制度8項目すべてで、男性の「わからない」が女性より高い（出産障害休暇: 男性52.6%／女性42.4%）。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42842"/>
                </a:solidFill>
                <a:latin typeface="Hiragino Sans"/>
                <a:ea typeface="Hiragino Sans"/>
              </a:rPr>
              <a:t>このデータが、次の施策を動かす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737360"/>
            <a:ext cx="31089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9659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42842"/>
                </a:solidFill>
                <a:latin typeface="Hiragino Sans"/>
                <a:ea typeface="Hiragino Sans"/>
              </a:rPr>
              <a:t>東京都・国の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42842"/>
                </a:solidFill>
                <a:latin typeface="Hiragino Sans"/>
                <a:ea typeface="Hiragino Sans"/>
              </a:rPr>
              <a:t>オープンデータ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31920" y="21488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65B62"/>
                </a:solidFill>
                <a:latin typeface="Hiragino Sans"/>
                <a:ea typeface="Hiragino Sans"/>
              </a:rPr>
              <a:t>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0" y="1737360"/>
            <a:ext cx="31089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9659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42842"/>
                </a:solidFill>
                <a:latin typeface="Hiragino Sans"/>
                <a:ea typeface="Hiragino Sans"/>
              </a:rPr>
              <a:t>一人ひとりの</a:t>
            </a:r>
          </a:p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42842"/>
                </a:solidFill>
                <a:latin typeface="Hiragino Sans"/>
                <a:ea typeface="Hiragino Sans"/>
              </a:rPr>
              <a:t>ライフプラン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0" y="2148840"/>
            <a:ext cx="457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>
                <a:solidFill>
                  <a:srgbClr val="565B62"/>
                </a:solidFill>
                <a:latin typeface="Hiragino Sans"/>
                <a:ea typeface="Hiragino Sans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7955280" y="1737360"/>
            <a:ext cx="3108960" cy="1371600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1965960"/>
            <a:ext cx="31089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142842"/>
                </a:solidFill>
                <a:latin typeface="Hiragino Sans"/>
                <a:ea typeface="Hiragino Sans"/>
              </a:rPr>
              <a:t>次の施策へ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840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1">
                <a:solidFill>
                  <a:srgbClr val="1E3A5F"/>
                </a:solidFill>
                <a:latin typeface="Hiragino Sans"/>
                <a:ea typeface="Hiragino Sans"/>
              </a:rPr>
              <a:t>知ったうえで、自分で決める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9377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600" b="1">
                <a:solidFill>
                  <a:srgbClr val="142842"/>
                </a:solidFill>
                <a:latin typeface="Hiragino Sans"/>
                <a:ea typeface="Hiragino Sans"/>
              </a:rPr>
              <a:t>公開デモ: my-career-app-559fd.web.app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制度情報の出典は各スライド記載のとおり。行政に力を入れてほしいこと1位「家事・育児や介護中の人への家庭と仕事の両立支援」64%（東京都「男女平等参画に関する世論調査」令和7年8月調査）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>
                <a:solidFill>
                  <a:srgbClr val="142842"/>
                </a:solidFill>
                <a:latin typeface="Hiragino Sans"/>
                <a:ea typeface="Hiragino Sans"/>
              </a:rPr>
              <a:t>参考｜利用データと使い方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371600"/>
            <a:ext cx="10881360" cy="1874519"/>
          </a:xfrm>
          <a:prstGeom prst="rect">
            <a:avLst/>
          </a:prstGeom>
          <a:solidFill>
            <a:srgbClr val="F2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5087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5F"/>
                </a:solidFill>
                <a:latin typeface="Hiragino Sans"/>
                <a:ea typeface="Hiragino Sans"/>
              </a:rPr>
              <a:t>(B) アプリ内に出典付きで表示するデータ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20240"/>
            <a:ext cx="1019556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0242B"/>
                </a:solidFill>
                <a:latin typeface="Hiragino Sans"/>
                <a:ea typeface="Hiragino Sans"/>
              </a:rPr>
              <a:t>・東京都不妊検査等助成事業／東京都福祉局／公的な制度情報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0242B"/>
                </a:solidFill>
                <a:latin typeface="Hiragino Sans"/>
                <a:ea typeface="Hiragino Sans"/>
              </a:rPr>
              <a:t>・育児・介護休業法、労働基準法、母子保健法／厚生労働省・こども家庭庁／公的な法令情報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3429000"/>
            <a:ext cx="10881360" cy="2331720"/>
          </a:xfrm>
          <a:prstGeom prst="rect">
            <a:avLst/>
          </a:prstGeom>
          <a:noFill/>
          <a:ln w="9525">
            <a:solidFill>
              <a:srgbClr val="D9D0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56616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1">
                <a:solidFill>
                  <a:srgbClr val="1E3A5F"/>
                </a:solidFill>
                <a:latin typeface="Hiragino Sans"/>
                <a:ea typeface="Hiragino Sans"/>
              </a:rPr>
              <a:t>(A) 課題の根拠として資料で引用するデータ（利用者の画面には出さない）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977639"/>
            <a:ext cx="10195560" cy="1691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20242B"/>
                </a:solidFill>
                <a:latin typeface="Hiragino Sans"/>
                <a:ea typeface="Hiragino Sans"/>
              </a:rPr>
              <a:t>・男女雇用平等参画状況調査（令和7年度）／東京都産業労働局／CC BY 4.0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0242B"/>
                </a:solidFill>
                <a:latin typeface="Hiragino Sans"/>
                <a:ea typeface="Hiragino Sans"/>
              </a:rPr>
              <a:t>・男女平等参画に関する世論調査（令和7年8月調査）／東京都政策企画局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0242B"/>
                </a:solidFill>
                <a:latin typeface="Hiragino Sans"/>
                <a:ea typeface="Hiragino Sans"/>
              </a:rPr>
              <a:t>・子育て支援制度レジストリ（東京デジタル2030ビジョン こどもDX）／東京都デジタルサービス局／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0242B"/>
                </a:solidFill>
                <a:latin typeface="Hiragino Sans"/>
                <a:ea typeface="Hiragino Sans"/>
              </a:rPr>
              <a:t>  CC BY 4.0（7,812件の根拠として引用。更新終了のため制度上限の一次情報は東京都福祉局の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20242B"/>
                </a:solidFill>
                <a:latin typeface="Hiragino Sans"/>
                <a:ea typeface="Hiragino Sans"/>
              </a:rPr>
              <a:t>  公式ページを採用）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1E3A5F"/>
                </a:solidFill>
                <a:latin typeface="Hiragino Sans"/>
                <a:ea typeface="Hiragino Sans"/>
              </a:rPr>
              <a:t>平均値・中央値は画面に出さず、制度上の上限だけを実施主体・出典付きで示す（PDR-008）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355080"/>
            <a:ext cx="11109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565B62"/>
                </a:solidFill>
                <a:latin typeface="Hiragino Sans"/>
                <a:ea typeface="Hiragino Sans"/>
              </a:rPr>
              <a:t>各データの出典URL・ライセンス表記の詳細は提出フォーム 4-1 に記載。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75720" y="228600"/>
            <a:ext cx="548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25000"/>
              </a:lnSpc>
            </a:pPr>
            <a:r>
              <a:rPr sz="1200" b="0">
                <a:solidFill>
                  <a:srgbClr val="565B62"/>
                </a:solidFill>
                <a:latin typeface="Hiragino Sans"/>
                <a:ea typeface="Hiragino Sans"/>
              </a:rPr>
              <a:t>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